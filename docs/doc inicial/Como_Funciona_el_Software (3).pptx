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M+0ImVPoBks9CQJ9GKC9GYgVm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A5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9DB8D6"/>
                </a:solidFill>
                <a:latin typeface="Arial"/>
                <a:ea typeface="Arial"/>
                <a:cs typeface="Arial"/>
                <a:sym typeface="Arial"/>
              </a:rPr>
              <a:t>CÓMO FUNCIONA EL SOFTWARE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22960" y="2377440"/>
            <a:ext cx="10607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los planos a la oferta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al programa de fabricación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868680" y="4160520"/>
            <a:ext cx="3840480" cy="0"/>
          </a:xfrm>
          <a:prstGeom prst="straightConnector1">
            <a:avLst/>
          </a:prstGeom>
          <a:noFill/>
          <a:ln cap="flat" cmpd="sng" w="317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Guía para el equipo de Ofertas y de Planta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7B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E97B8"/>
                </a:solidFill>
                <a:latin typeface="Arial"/>
                <a:ea typeface="Arial"/>
                <a:cs typeface="Arial"/>
                <a:sym typeface="Arial"/>
              </a:rPr>
              <a:t>Software de planificación y presupuesto basado en Lean Manufacturing  ·  estima contra la capacidad real de su planta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POR QUÉ EXISTE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Una herramienta, dos trabajos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El software acompaña un proyecto en sus dos etapas críticas. El equipo de Ofertas lo usa para cotizar bien; el de Planta, para fabricar ordenado. Es la misma herramienta resolviendo las dos mitades del negocio.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48640" y="2286000"/>
            <a:ext cx="5349240" cy="3383280"/>
          </a:xfrm>
          <a:prstGeom prst="roundRect">
            <a:avLst>
              <a:gd fmla="val 2432" name="adj"/>
            </a:avLst>
          </a:prstGeom>
          <a:solidFill>
            <a:srgbClr val="EAF0F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48640" y="2286000"/>
            <a:ext cx="534924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EL EQUIPO DE OFERTAS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713232" y="2999232"/>
            <a:ext cx="49834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250"/>
              <a:buFont typeface="Arial"/>
              <a:buChar char="•"/>
            </a:pPr>
            <a:r>
              <a:rPr b="1" lang="en-US" sz="125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Cotizar rápido y con exactitud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Computar peso neto y cobrable por norma AISC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Evaluar desperdicio y tornillería con fundamento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Validar supuestos con alertas antes de enviar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Presentar 3 escenarios con márgenes ajustables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291072" y="2286000"/>
            <a:ext cx="5349240" cy="3383280"/>
          </a:xfrm>
          <a:prstGeom prst="roundRect">
            <a:avLst>
              <a:gd fmla="val 2432" name="adj"/>
            </a:avLst>
          </a:prstGeom>
          <a:solidFill>
            <a:srgbClr val="E8F1E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291072" y="2286000"/>
            <a:ext cx="5349240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EL EQUIPO DE PLANTA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55664" y="2999232"/>
            <a:ext cx="49834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250"/>
              <a:buFont typeface="Arial"/>
              <a:buChar char="•"/>
            </a:pPr>
            <a:r>
              <a:rPr b="1" lang="en-US" sz="125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Fabricar con una secuencia, no improvisando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Recibir el programa de fabricación por orden de montaje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Saber el rendimiento HH/ton de cada familia de pieza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Despachar a obra en el orden que el montaje pide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Conocer el tipo de transporte que cada despacho requiere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502920" y="6464808"/>
            <a:ext cx="9601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Software de planificación y presupuesto · Fabricación de estructuras metálicas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338560" y="6464808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CÓMO TRABAJA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El recorrido de un proyecto: cuatro capas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El software procesa cada proyecto de la misma forma, en cuatro capas que van de los planos al programa de fabricación.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280160" y="1965960"/>
            <a:ext cx="9601200" cy="86868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1280160" y="1965960"/>
            <a:ext cx="118872" cy="868680"/>
          </a:xfrm>
          <a:prstGeom prst="rect">
            <a:avLst/>
          </a:prstGeom>
          <a:solidFill>
            <a:srgbClr val="6B7D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1600200" y="208483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CAPA 1 · ENTRADA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600200" y="2286000"/>
            <a:ext cx="9052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Ingesta del proyecto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600200" y="2542032"/>
            <a:ext cx="9098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F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Recibe el modelo IFC, los planos PDF o los archivos DXF. Si no hay modelo, genera el IFC unifilar.</a:t>
            </a:r>
            <a:endParaRPr sz="9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943600" y="28163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280160" y="2990088"/>
            <a:ext cx="9601200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280160" y="2990088"/>
            <a:ext cx="118872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600200" y="310896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6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9DB8D6"/>
                </a:solidFill>
                <a:latin typeface="Arial"/>
                <a:ea typeface="Arial"/>
                <a:cs typeface="Arial"/>
                <a:sym typeface="Arial"/>
              </a:rPr>
              <a:t>CAPA 2 · MOTOR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600200" y="3310128"/>
            <a:ext cx="9052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Cómputo, validación y planificación Lean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600200" y="3566160"/>
            <a:ext cx="9098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F0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CFE0F0"/>
                </a:solidFill>
                <a:latin typeface="Arial"/>
                <a:ea typeface="Arial"/>
                <a:cs typeface="Arial"/>
                <a:sym typeface="Arial"/>
              </a:rPr>
              <a:t>Computa pesos por norma, valida con alertas, estima contra el VSM real de la planta, genera 3 escenarios y el programa de fabricación.</a:t>
            </a:r>
            <a:endParaRPr sz="9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943600" y="38404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280160" y="4014216"/>
            <a:ext cx="9601200" cy="868680"/>
          </a:xfrm>
          <a:prstGeom prst="rect">
            <a:avLst/>
          </a:prstGeom>
          <a:solidFill>
            <a:srgbClr val="E8F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280160" y="4014216"/>
            <a:ext cx="118872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600200" y="4133088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CAPA 3 · SALIDA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600200" y="4334256"/>
            <a:ext cx="9052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Entregables del proyecto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600200" y="4590288"/>
            <a:ext cx="9098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F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BOM, presupuesto, oferta de 3 escenarios, flujo de caja, requisición de compra, programa de fabricación y plan de despachos.</a:t>
            </a:r>
            <a:endParaRPr sz="9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943600" y="486460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280160" y="5038344"/>
            <a:ext cx="9601200" cy="868680"/>
          </a:xfrm>
          <a:prstGeom prst="rect">
            <a:avLst/>
          </a:prstGeom>
          <a:solidFill>
            <a:srgbClr val="FBF3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1280160" y="5038344"/>
            <a:ext cx="118872" cy="868680"/>
          </a:xfrm>
          <a:prstGeom prst="rect">
            <a:avLst/>
          </a:prstGeom>
          <a:solidFill>
            <a:srgbClr val="B977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600200" y="515721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CAPA 4 · HOJA DE RUTA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600200" y="5358384"/>
            <a:ext cx="9052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Aprendizaje e integración (en desarrollo)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600200" y="5614416"/>
            <a:ext cx="9098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F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Gestión inteligente de inventario, lazo cerrado cotizado vs. ejecutado, e integración con Strumis.</a:t>
            </a:r>
            <a:endParaRPr sz="9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3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3"/>
          <p:cNvSpPr/>
          <p:nvPr/>
        </p:nvSpPr>
        <p:spPr>
          <a:xfrm>
            <a:off x="502920" y="6464808"/>
            <a:ext cx="9601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Software de planificación y presupuesto · Fabricación de estructuras metálicas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1338560" y="6464808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CAPA 1 · ENTRADA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Ingesta: el proyecto entra como esté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El software no obliga a tener un modelo BIM. Acepta el proyecto en el formato que el cliente tenga, y si hace falta, construye el modelo.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48640" y="2103120"/>
            <a:ext cx="5440680" cy="1554480"/>
          </a:xfrm>
          <a:prstGeom prst="roundRect">
            <a:avLst>
              <a:gd fmla="val 4118" name="adj"/>
            </a:avLst>
          </a:prstGeom>
          <a:solidFill>
            <a:srgbClr val="F4F6F9"/>
          </a:solidFill>
          <a:ln cap="flat" cmpd="sng" w="12700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203200" wrap="square" tIns="279400">
            <a:noAutofit/>
          </a:bodyPr>
          <a:lstStyle/>
          <a:p>
            <a:pPr indent="0" lvl="0" marL="0" marR="0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Modelo IFC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44505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La fuente más completa: geometría, ensambles, perfiles, materiales y coordenadas. Versiones IFC4 o IFC2X3.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48640" y="2103120"/>
            <a:ext cx="100584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263640" y="2103120"/>
            <a:ext cx="5440680" cy="1554480"/>
          </a:xfrm>
          <a:prstGeom prst="roundRect">
            <a:avLst>
              <a:gd fmla="val 4118" name="adj"/>
            </a:avLst>
          </a:prstGeom>
          <a:solidFill>
            <a:srgbClr val="F4F6F9"/>
          </a:solidFill>
          <a:ln cap="flat" cmpd="sng" w="12700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203200" wrap="square" tIns="279400">
            <a:noAutofit/>
          </a:bodyPr>
          <a:lstStyle/>
          <a:p>
            <a:pPr indent="0" lvl="0" marL="0" marR="0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Planos PDF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44505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Planos de fabricación, por ejemplo exportados de Tekla Structures. Se extraen marcas, piezas y pesos.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263640" y="2103120"/>
            <a:ext cx="100584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48640" y="3886200"/>
            <a:ext cx="5440680" cy="1554480"/>
          </a:xfrm>
          <a:prstGeom prst="roundRect">
            <a:avLst>
              <a:gd fmla="val 4118" name="adj"/>
            </a:avLst>
          </a:prstGeom>
          <a:solidFill>
            <a:srgbClr val="F4F6F9"/>
          </a:solidFill>
          <a:ln cap="flat" cmpd="sng" w="12700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203200" wrap="square" tIns="279400">
            <a:noAutofit/>
          </a:bodyPr>
          <a:lstStyle/>
          <a:p>
            <a:pPr indent="0" lvl="0" marL="0" marR="0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Archivos DXF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44505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Geometría vectorial 2D, que el software interpreta para obtener piezas y dimensiones.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3886200"/>
            <a:ext cx="100584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263640" y="3886200"/>
            <a:ext cx="5440680" cy="1554480"/>
          </a:xfrm>
          <a:prstGeom prst="roundRect">
            <a:avLst>
              <a:gd fmla="val 4118" name="adj"/>
            </a:avLst>
          </a:prstGeom>
          <a:solidFill>
            <a:srgbClr val="F4F6F9"/>
          </a:solidFill>
          <a:ln cap="flat" cmpd="sng" w="12700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203200" wrap="square" tIns="279400">
            <a:noAutofit/>
          </a:bodyPr>
          <a:lstStyle/>
          <a:p>
            <a:pPr indent="0" lvl="0" marL="0" marR="0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Genera el IFC unifilar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44505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Si el cliente no entrega modelo, el software lo construye, preservando la geometría espacial del proyecto.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263640" y="3886200"/>
            <a:ext cx="100584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Resultado de esta capa:  </a:t>
            </a:r>
            <a:r>
              <a:rPr lang="en-US" sz="110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un inventario estructurado del proyecto — total de piezas, ensambles, tonelaje y composición por categoría. Ejemplos reales procesados: 881 piezas en un proyecto industrial; más de 31.000 piezas en uno de mayor escala.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4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4"/>
          <p:cNvSpPr/>
          <p:nvPr/>
        </p:nvSpPr>
        <p:spPr>
          <a:xfrm>
            <a:off x="502920" y="6464808"/>
            <a:ext cx="9601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Software de planificación y presupuesto · Fabricación de estructuras metálicas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1338560" y="6464808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A5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9DB8D6"/>
                </a:solidFill>
                <a:latin typeface="Arial"/>
                <a:ea typeface="Arial"/>
                <a:cs typeface="Arial"/>
                <a:sym typeface="Arial"/>
              </a:rPr>
              <a:t>CAPA 2 · MOTOR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658368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motor: cinco bloques que trabajan en secuencia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Es el corazón del software. Aquí el proyecto se computa, se valida, se estima contra la planta y se convierte en oferta y programa.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48640" y="2121408"/>
            <a:ext cx="3529584" cy="1627632"/>
          </a:xfrm>
          <a:prstGeom prst="roundRect">
            <a:avLst>
              <a:gd fmla="val 3933" name="adj"/>
            </a:avLst>
          </a:prstGeom>
          <a:solidFill>
            <a:srgbClr val="294B73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49808" y="2304288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280160" y="2304288"/>
            <a:ext cx="259689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Cómputo de pesos y costos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68096" y="2852928"/>
            <a:ext cx="30906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C4D4E6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C4D4E6"/>
                </a:solidFill>
                <a:latin typeface="Arial"/>
                <a:ea typeface="Arial"/>
                <a:cs typeface="Arial"/>
                <a:sym typeface="Arial"/>
              </a:rPr>
              <a:t>Peso neto y cobrable por cómputo AISC, cascada hasta peso a comprar, evaluador de desperdicios y tornillería.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279392" y="2121408"/>
            <a:ext cx="3529584" cy="1627632"/>
          </a:xfrm>
          <a:prstGeom prst="roundRect">
            <a:avLst>
              <a:gd fmla="val 3933" name="adj"/>
            </a:avLst>
          </a:prstGeom>
          <a:solidFill>
            <a:srgbClr val="294B73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480560" y="2304288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010912" y="2304288"/>
            <a:ext cx="259689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Validación con alertas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498848" y="2852928"/>
            <a:ext cx="30906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C4D4E6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C4D4E6"/>
                </a:solidFill>
                <a:latin typeface="Arial"/>
                <a:ea typeface="Arial"/>
                <a:cs typeface="Arial"/>
                <a:sym typeface="Arial"/>
              </a:rPr>
              <a:t>Alertas por criticidad, checklist pre-cotización y registro de decisiones trazable.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010144" y="2121408"/>
            <a:ext cx="3529584" cy="1627632"/>
          </a:xfrm>
          <a:prstGeom prst="roundRect">
            <a:avLst>
              <a:gd fmla="val 3933" name="adj"/>
            </a:avLst>
          </a:prstGeom>
          <a:solidFill>
            <a:srgbClr val="294B73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8211312" y="2304288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741664" y="2304288"/>
            <a:ext cx="259689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Estimación contra el VSM real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229600" y="2852928"/>
            <a:ext cx="30906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C4D4E6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C4D4E6"/>
                </a:solidFill>
                <a:latin typeface="Arial"/>
                <a:ea typeface="Arial"/>
                <a:cs typeface="Arial"/>
                <a:sym typeface="Arial"/>
              </a:rPr>
              <a:t>HH/ton de cada pieza con el flujo de valor de la planta; desperdicio y HH calibrados por complejidad.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48640" y="3950208"/>
            <a:ext cx="3529584" cy="1627632"/>
          </a:xfrm>
          <a:prstGeom prst="roundRect">
            <a:avLst>
              <a:gd fmla="val 3933" name="adj"/>
            </a:avLst>
          </a:prstGeom>
          <a:solidFill>
            <a:srgbClr val="294B73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749808" y="4133088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280160" y="4133088"/>
            <a:ext cx="259689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Generador de escenarios y precio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68096" y="4681728"/>
            <a:ext cx="30906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C4D4E6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C4D4E6"/>
                </a:solidFill>
                <a:latin typeface="Arial"/>
                <a:ea typeface="Arial"/>
                <a:cs typeface="Arial"/>
                <a:sym typeface="Arial"/>
              </a:rPr>
              <a:t>3 escenarios con márgenes ajustables y análisis de sensibilidad del precio.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279392" y="3950208"/>
            <a:ext cx="3529584" cy="1627632"/>
          </a:xfrm>
          <a:prstGeom prst="roundRect">
            <a:avLst>
              <a:gd fmla="val 3933" name="adj"/>
            </a:avLst>
          </a:prstGeom>
          <a:solidFill>
            <a:srgbClr val="294B73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480560" y="4133088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010912" y="4133088"/>
            <a:ext cx="259689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Planificador Lean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498848" y="4681728"/>
            <a:ext cx="30906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416"/>
              </a:lnSpc>
              <a:spcBef>
                <a:spcPts val="0"/>
              </a:spcBef>
              <a:spcAft>
                <a:spcPts val="0"/>
              </a:spcAft>
              <a:buClr>
                <a:srgbClr val="C4D4E6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C4D4E6"/>
                </a:solidFill>
                <a:latin typeface="Arial"/>
                <a:ea typeface="Arial"/>
                <a:cs typeface="Arial"/>
                <a:sym typeface="Arial"/>
              </a:rPr>
              <a:t>Programa de fabricación por orden de montaje, plan de despachos y HH/ton por familia.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48640" y="5650992"/>
            <a:ext cx="11064240" cy="548640"/>
          </a:xfrm>
          <a:prstGeom prst="rect">
            <a:avLst/>
          </a:prstGeom>
          <a:solidFill>
            <a:srgbClr val="294B73"/>
          </a:solidFill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diferencia del motor:  </a:t>
            </a:r>
            <a:r>
              <a:rPr lang="en-US" sz="1100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no estima con un número promedio de la industria. Estima contra la planta real y su carga futura, valida cada supuesto, y entrega tres escenarios comparables.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5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5"/>
          <p:cNvSpPr/>
          <p:nvPr/>
        </p:nvSpPr>
        <p:spPr>
          <a:xfrm>
            <a:off x="502920" y="6464808"/>
            <a:ext cx="9601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Software de planificación y presupuesto · Fabricación de estructuras metálicas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1338560" y="6464808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CAPA 2 · BLOQUE 2.2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La validación: el software revisa antes de cotizar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Antes de dar un precio, el software revisa el proyecto y levanta alertas. Esto evita cotizar sobre un supuesto equivocado — el error más caro en una oferta.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48640" y="2057400"/>
            <a:ext cx="1554480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103120" y="2057400"/>
            <a:ext cx="4572000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76200" lIns="762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F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Supuestos que cambian el alcance: grilla inferida, partidas no incluidas (steel deck, placas base).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" y="2825496"/>
            <a:ext cx="1554480" cy="658368"/>
          </a:xfrm>
          <a:prstGeom prst="rect">
            <a:avLst/>
          </a:prstGeom>
          <a:solidFill>
            <a:srgbClr val="B9770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103120" y="2825496"/>
            <a:ext cx="4572000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76200" lIns="762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F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Factores que mueven el costo: soldadura CJP especial, clasificación de correas.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48640" y="3593592"/>
            <a:ext cx="1554480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103120" y="3593592"/>
            <a:ext cx="4572000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76200" lIns="762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F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Decisiones técnicas a confirmar: tipo de material, marco contractual del cliente.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" y="4361688"/>
            <a:ext cx="1554480" cy="658368"/>
          </a:xfrm>
          <a:prstGeom prst="rect">
            <a:avLst/>
          </a:prstGeom>
          <a:solidFill>
            <a:srgbClr val="5B647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103120" y="4361688"/>
            <a:ext cx="4572000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76200" lIns="762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F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Detalles menores ya resueltos: tipo de tornillería, sistema de unidades.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949440" y="2057400"/>
            <a:ext cx="4663440" cy="2852928"/>
          </a:xfrm>
          <a:prstGeom prst="roundRect">
            <a:avLst>
              <a:gd fmla="val 2564" name="adj"/>
            </a:avLst>
          </a:prstGeom>
          <a:solidFill>
            <a:srgbClr val="EAF0F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800" lIns="2032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Lo que produce la validación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28571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Lista de alertas clasificadas por criticidad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Un checklist pre-cotización para revisar punto por punto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Un registro de decisiones validadas, con el impacto de cada una sobre el cómputo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80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Trazabilidad completa: quién decidió qué y por qué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5257800"/>
            <a:ext cx="11064240" cy="566928"/>
          </a:xfrm>
          <a:prstGeom prst="rect">
            <a:avLst/>
          </a:prstGeom>
          <a:solidFill>
            <a:srgbClr val="E8F1EA"/>
          </a:solidFill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Para el equipo de Ofertas:  </a:t>
            </a:r>
            <a:r>
              <a:rPr lang="en-US" sz="110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ninguna oferta sale con un hueco silencioso. Cada supuesto queda visible, decidido y registrado.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6"/>
          <p:cNvSpPr/>
          <p:nvPr/>
        </p:nvSpPr>
        <p:spPr>
          <a:xfrm>
            <a:off x="502920" y="6464808"/>
            <a:ext cx="9601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Software de planificación y presupuesto · Fabricación de estructuras metálicas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1338560" y="6464808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CAPA 3 · SALIDA PARA OFERTAS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La oferta: tres escenarios, no un precio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El software no entrega un número solo. Entrega tres escenarios comparables para que la dirección decida con criterio comercial.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8640" y="2057400"/>
            <a:ext cx="3566160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9050">
            <a:solidFill>
              <a:srgbClr val="6B7D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548640" y="2057400"/>
            <a:ext cx="3566160" cy="841248"/>
          </a:xfrm>
          <a:prstGeom prst="rect">
            <a:avLst/>
          </a:prstGeom>
          <a:solidFill>
            <a:srgbClr val="6B7D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i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Factores estándar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94360" y="3017520"/>
            <a:ext cx="34747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0" lIns="127000" spcFirstLastPara="1" rIns="177800" wrap="square" tIns="203200">
            <a:noAutofit/>
          </a:bodyPr>
          <a:lstStyle/>
          <a:p>
            <a:pPr indent="-342900" lvl="0" marL="34290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Todos los factores estándar de la industria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120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Margen de utilidad pleno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120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Sirve de respaldo y referencia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343400" y="2057400"/>
            <a:ext cx="3566160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90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343400" y="2057400"/>
            <a:ext cx="3566160" cy="8412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OPTIMIZADO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i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Value Engineering ★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389120" y="3017520"/>
            <a:ext cx="34747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0" lIns="127000" spcFirstLastPara="1" rIns="177800" wrap="square" tIns="203200">
            <a:noAutofit/>
          </a:bodyPr>
          <a:lstStyle/>
          <a:p>
            <a:pPr indent="-342900" lvl="0" marL="34290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Aplica técnicas de Value Engineering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120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Ahorro para el cliente sin perder margen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120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El escenario recomendado a destacar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138160" y="2057400"/>
            <a:ext cx="3566160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9050">
            <a:solidFill>
              <a:srgbClr val="B977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8138160" y="2057400"/>
            <a:ext cx="3566160" cy="841248"/>
          </a:xfrm>
          <a:prstGeom prst="rect">
            <a:avLst/>
          </a:prstGeom>
          <a:solidFill>
            <a:srgbClr val="B9770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MÍNIMO VIABLE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i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Límite inferior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183880" y="3017520"/>
            <a:ext cx="34747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0" lIns="127000" spcFirstLastPara="1" rIns="177800" wrap="square" tIns="203200">
            <a:noAutofit/>
          </a:bodyPr>
          <a:lstStyle/>
          <a:p>
            <a:pPr indent="-342900" lvl="0" marL="34290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Contingencia y utilidad reducidas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120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El piso aceptable de precio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1200"/>
              </a:spcBef>
              <a:spcAft>
                <a:spcPts val="0"/>
              </a:spcAft>
              <a:buClr>
                <a:srgbClr val="33404F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Se reserva para competencia fuerte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48640" y="5532120"/>
            <a:ext cx="11064240" cy="56692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Cada escenario llega con su número completo:  </a:t>
            </a:r>
            <a:r>
              <a:rPr lang="en-US" sz="110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costo directo, indirectos, contingencia, utilidad, precio total y por tonelada, flujo de caja y probabilidad de ganar. Los márgenes de utilidad son ajustables y un análisis de sensibilidad muestra el efecto de mover el precio.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7"/>
          <p:cNvSpPr/>
          <p:nvPr/>
        </p:nvSpPr>
        <p:spPr>
          <a:xfrm>
            <a:off x="502920" y="6464808"/>
            <a:ext cx="9601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Software de planificación y presupuesto · Fabricación de estructuras metálicas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1338560" y="6464808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CAPA 3 · SALIDA PARA PLANTA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El programa de fabricación: planta con secuencia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Cuando el proyecto se gana, el software entrega a la planta un plan de trabajo completo, secuenciado por el orden de montaje en obra.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48640" y="2057400"/>
            <a:ext cx="5440680" cy="1536192"/>
          </a:xfrm>
          <a:prstGeom prst="roundRect">
            <a:avLst>
              <a:gd fmla="val 4167" name="adj"/>
            </a:avLst>
          </a:prstGeom>
          <a:solidFill>
            <a:srgbClr val="E8F1E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203200" wrap="square" tIns="279400">
            <a:noAutofit/>
          </a:bodyPr>
          <a:lstStyle/>
          <a:p>
            <a:pPr indent="0" lvl="0" marL="0" marR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Programa de fabricación maestro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514"/>
              </a:lnSpc>
              <a:spcBef>
                <a:spcPts val="700"/>
              </a:spcBef>
              <a:spcAft>
                <a:spcPts val="0"/>
              </a:spcAft>
              <a:buClr>
                <a:srgbClr val="44505F"/>
              </a:buClr>
              <a:buSzPts val="1070"/>
              <a:buFont typeface="Arial"/>
              <a:buNone/>
            </a:pPr>
            <a:r>
              <a:rPr lang="en-US" sz="107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La secuencia de fabricación pieza por pieza, con resumen por día y por tipo de elemento. Lo que se fabrica primero es lo que se monta primero.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48640" y="2057400"/>
            <a:ext cx="100584" cy="1536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263640" y="2057400"/>
            <a:ext cx="5440680" cy="1536192"/>
          </a:xfrm>
          <a:prstGeom prst="roundRect">
            <a:avLst>
              <a:gd fmla="val 4167" name="adj"/>
            </a:avLst>
          </a:prstGeom>
          <a:solidFill>
            <a:srgbClr val="E8F1E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203200" wrap="square" tIns="279400">
            <a:noAutofit/>
          </a:bodyPr>
          <a:lstStyle/>
          <a:p>
            <a:pPr indent="0" lvl="0" marL="0" marR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Plan de despachos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514"/>
              </a:lnSpc>
              <a:spcBef>
                <a:spcPts val="700"/>
              </a:spcBef>
              <a:spcAft>
                <a:spcPts val="0"/>
              </a:spcAft>
              <a:buClr>
                <a:srgbClr val="44505F"/>
              </a:buClr>
              <a:buSzPts val="1070"/>
              <a:buFont typeface="Arial"/>
              <a:buNone/>
            </a:pPr>
            <a:r>
              <a:rPr lang="en-US" sz="107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Despachos secuenciados con fecha, tonelaje, longitud máxima y el tipo de transporte (estándar o especial) que cada uno requiere.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263640" y="2057400"/>
            <a:ext cx="100584" cy="1536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48640" y="3813048"/>
            <a:ext cx="5440680" cy="1536192"/>
          </a:xfrm>
          <a:prstGeom prst="roundRect">
            <a:avLst>
              <a:gd fmla="val 4167" name="adj"/>
            </a:avLst>
          </a:prstGeom>
          <a:solidFill>
            <a:srgbClr val="E8F1E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203200" wrap="square" tIns="279400">
            <a:noAutofit/>
          </a:bodyPr>
          <a:lstStyle/>
          <a:p>
            <a:pPr indent="0" lvl="0" marL="0" marR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Parámetros HH/ton por familia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514"/>
              </a:lnSpc>
              <a:spcBef>
                <a:spcPts val="700"/>
              </a:spcBef>
              <a:spcAft>
                <a:spcPts val="0"/>
              </a:spcAft>
              <a:buClr>
                <a:srgbClr val="44505F"/>
              </a:buClr>
              <a:buSzPts val="1070"/>
              <a:buFont typeface="Arial"/>
              <a:buNone/>
            </a:pPr>
            <a:r>
              <a:rPr lang="en-US" sz="107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El rendimiento de corte, armado y soldadura de cada familia de pieza, con su nivel de complejidad. La planta sabe cuánto cuesta cada elemento.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640" y="3813048"/>
            <a:ext cx="100584" cy="1536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6263640" y="3813048"/>
            <a:ext cx="5440680" cy="1536192"/>
          </a:xfrm>
          <a:prstGeom prst="roundRect">
            <a:avLst>
              <a:gd fmla="val 4167" name="adj"/>
            </a:avLst>
          </a:prstGeom>
          <a:solidFill>
            <a:srgbClr val="E8F1E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203200" wrap="square" tIns="279400">
            <a:noAutofit/>
          </a:bodyPr>
          <a:lstStyle/>
          <a:p>
            <a:pPr indent="0" lvl="0" marL="0" marR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Requisición de compra con nesting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514"/>
              </a:lnSpc>
              <a:spcBef>
                <a:spcPts val="700"/>
              </a:spcBef>
              <a:spcAft>
                <a:spcPts val="0"/>
              </a:spcAft>
              <a:buClr>
                <a:srgbClr val="44505F"/>
              </a:buClr>
              <a:buSzPts val="1070"/>
              <a:buFont typeface="Arial"/>
              <a:buNone/>
            </a:pPr>
            <a:r>
              <a:rPr lang="en-US" sz="107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La lista de placas y perfiles comerciales a comprar, con el nesting, la cantidad y el desperdicio calculado.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263640" y="3813048"/>
            <a:ext cx="100584" cy="1536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548640" y="5669280"/>
            <a:ext cx="11064240" cy="56692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Por qué importa la secuencia:  </a:t>
            </a:r>
            <a:r>
              <a:rPr lang="en-US" sz="1100">
                <a:solidFill>
                  <a:srgbClr val="44505F"/>
                </a:solidFill>
                <a:latin typeface="Arial"/>
                <a:ea typeface="Arial"/>
                <a:cs typeface="Arial"/>
                <a:sym typeface="Arial"/>
              </a:rPr>
              <a:t>en obra no hay espacio para almacenar — lo que llega se monta. Una pieza fuera de secuencia es un estorbo. El programa hace que cada pieza llegue cuando el montaje la pide.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8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8"/>
          <p:cNvSpPr/>
          <p:nvPr/>
        </p:nvSpPr>
        <p:spPr>
          <a:xfrm>
            <a:off x="502920" y="6464808"/>
            <a:ext cx="9601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Software de planificación y presupuesto · Fabricación de estructuras metálicas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1338560" y="6464808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EN LA PRÁCTICA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El día a día con el software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48640" y="1554480"/>
            <a:ext cx="5349240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 DE OFERTAS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40080" y="2286000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225296" y="2240280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Carga el IFC, PDF o DXF que envió el cliente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40080" y="3017520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225296" y="2971800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Revisa las alertas y confirma los supuestos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40080" y="3749040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225296" y="3703320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Ajusta los parámetros contra la planta y su carga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40080" y="4480560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225296" y="4434840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Genera los 3 escenarios y revisa margen y flujo de caja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40080" y="5212080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225296" y="5166360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Envía la oferta con el escenario recomendado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291072" y="1554480"/>
            <a:ext cx="5349240" cy="5120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 DE PLANTA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382512" y="2286000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967728" y="2240280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Recibe el programa de fabricación del proyecto ganado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382512" y="3017520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967728" y="2971800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Fabrica siguiendo la secuencia por orden de montaje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382512" y="3749040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967728" y="3703320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Usa los HH/ton por familia para cargar las células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382512" y="4480560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967728" y="4434840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Sigue la requisición de compra para tener el material a tiempo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382512" y="5212080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6967728" y="5166360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4F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33404F"/>
                </a:solidFill>
                <a:latin typeface="Arial"/>
                <a:ea typeface="Arial"/>
                <a:cs typeface="Arial"/>
                <a:sym typeface="Arial"/>
              </a:rPr>
              <a:t>Despacha según el plan, con el transporte indicado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9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D3D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9"/>
          <p:cNvSpPr/>
          <p:nvPr/>
        </p:nvSpPr>
        <p:spPr>
          <a:xfrm>
            <a:off x="502920" y="6464808"/>
            <a:ext cx="9601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Software de planificación y presupuesto · Fabricación de estructuras metálicas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1338560" y="6464808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A5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6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DB8D6"/>
                </a:solidFill>
                <a:latin typeface="Arial"/>
                <a:ea typeface="Arial"/>
                <a:cs typeface="Arial"/>
                <a:sym typeface="Arial"/>
              </a:rPr>
              <a:t>EN RESUMEN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822960" y="1783080"/>
            <a:ext cx="10607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herramienta que cotiza contra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planta real y planifica la fabricación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0"/>
          <p:cNvCxnSpPr/>
          <p:nvPr/>
        </p:nvCxnSpPr>
        <p:spPr>
          <a:xfrm>
            <a:off x="868680" y="3291840"/>
            <a:ext cx="3657600" cy="0"/>
          </a:xfrm>
          <a:prstGeom prst="straightConnector1">
            <a:avLst/>
          </a:prstGeom>
          <a:noFill/>
          <a:ln cap="flat" cmpd="sng" w="317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0"/>
          <p:cNvSpPr/>
          <p:nvPr/>
        </p:nvSpPr>
        <p:spPr>
          <a:xfrm>
            <a:off x="868680" y="3566160"/>
            <a:ext cx="100584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E6EDF5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E6EDF5"/>
                </a:solidFill>
                <a:latin typeface="Arial"/>
                <a:ea typeface="Arial"/>
                <a:cs typeface="Arial"/>
                <a:sym typeface="Arial"/>
              </a:rPr>
              <a:t>Toma el proyecto en cualquier formato: IFC, PDF o DXF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962"/>
              </a:lnSpc>
              <a:spcBef>
                <a:spcPts val="900"/>
              </a:spcBef>
              <a:spcAft>
                <a:spcPts val="0"/>
              </a:spcAft>
              <a:buClr>
                <a:srgbClr val="E6EDF5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E6EDF5"/>
                </a:solidFill>
                <a:latin typeface="Arial"/>
                <a:ea typeface="Arial"/>
                <a:cs typeface="Arial"/>
                <a:sym typeface="Arial"/>
              </a:rPr>
              <a:t>Computa y valida contra norma, con alertas trazables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962"/>
              </a:lnSpc>
              <a:spcBef>
                <a:spcPts val="900"/>
              </a:spcBef>
              <a:spcAft>
                <a:spcPts val="0"/>
              </a:spcAft>
              <a:buClr>
                <a:srgbClr val="E6EDF5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E6EDF5"/>
                </a:solidFill>
                <a:latin typeface="Arial"/>
                <a:ea typeface="Arial"/>
                <a:cs typeface="Arial"/>
                <a:sym typeface="Arial"/>
              </a:rPr>
              <a:t>Estima contra el VSM real de la planta y su carga futura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962"/>
              </a:lnSpc>
              <a:spcBef>
                <a:spcPts val="900"/>
              </a:spcBef>
              <a:spcAft>
                <a:spcPts val="0"/>
              </a:spcAft>
              <a:buClr>
                <a:srgbClr val="E6EDF5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E6EDF5"/>
                </a:solidFill>
                <a:latin typeface="Arial"/>
                <a:ea typeface="Arial"/>
                <a:cs typeface="Arial"/>
                <a:sym typeface="Arial"/>
              </a:rPr>
              <a:t>Entrega 3 escenarios de oferta con flujo de caja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962"/>
              </a:lnSpc>
              <a:spcBef>
                <a:spcPts val="900"/>
              </a:spcBef>
              <a:spcAft>
                <a:spcPts val="0"/>
              </a:spcAft>
              <a:buClr>
                <a:srgbClr val="E6EDF5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E6EDF5"/>
                </a:solidFill>
                <a:latin typeface="Arial"/>
                <a:ea typeface="Arial"/>
                <a:cs typeface="Arial"/>
                <a:sym typeface="Arial"/>
              </a:rPr>
              <a:t>Genera el programa de fabricación secuenciado por montaje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7B8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7E97B8"/>
                </a:solidFill>
                <a:latin typeface="Arial"/>
                <a:ea typeface="Arial"/>
                <a:cs typeface="Arial"/>
                <a:sym typeface="Arial"/>
              </a:rPr>
              <a:t>Ofertas más exactas y rápidas  ·  planta ordenada y con secuencia  ·  decisiones con números, no con intuición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2026-05-17T20:16:34Z</dcterms:created>
  <dc:creator>Software de planificación de estructuras</dc:creator>
</cp:coreProperties>
</file>